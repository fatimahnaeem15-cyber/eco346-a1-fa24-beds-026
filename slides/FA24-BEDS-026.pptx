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vgfig1.svg" ContentType="image/svg+xml"/>
  <Override PartName="/ppt/media/svgfig2.svg" ContentType="image/svg+xml"/>
  <Override PartName="/ppt/media/svgfig3.svg" ContentType="image/svg+xml"/>
  <Override PartName="/ppt/media/svgfig4.svg" ContentType="image/svg+xml"/>
  <Override PartName="/ppt/media/svgfig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Variant: registration ends in 26, 26 = 3x8+2, so variant 2, rural Sindh. Students = ed_total &gt; 0, n = 1,440. Weighted median Rs 4,500, unweighted Rs 4,295, P10 Rs 1,000, P90 Rs 15,500, ratio 15.50. One student outside Rs 100 to 1,000,000 excluded. Weighted and unweighted medians differ by about 5% because the lowest-weight third of households is over-represented in the sample and has a median of Rs 4,000 against Rs 4,500 elsewhere.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Default shows individual observations at single years of age but overplots 7,171 points on two rows. The redesign plots weighted conditional means by five-year band, compares women and men by position on one axis, labels lines directly, and states the finding in the title. What the default shows that the redesign hides: the spread within each band.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Women trail men in every age band: 31.5 points at 15-19, 30.4 at 55-59, peak 42.5 at 30-34. Women fall from 28.0% to 9.6% between late teens and late fifties; men from 59.5% to 40.0%. Smallest cell has 77 observations, so no band is thin. Caveat: cross-section, cohorts and ageing are mixed; the figure shows the outcome, not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recomputes the band table and redraws the figure. Women 15-19 is 28.0% in both. The axis padding and the band construction were the two defaults that differed.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svgfig1.sv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svgfig2.svg"/><Relationship Id="rId4" Type="http://schemas.openxmlformats.org/officeDocument/2006/relationships/image" Target="../media/image3.png"/><Relationship Id="rId5" Type="http://schemas.openxmlformats.org/officeDocument/2006/relationships/image" Target="../media/svgfig3.sv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svgfig4.sv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svgfig5.svg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673"/>
                </a:solidFill>
                <a:latin typeface="Calibri"/>
              </a:rPr>
              <a:t>VARIANT 2 · SINDH RURAL · EDUCATION SPENDING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B2430"/>
                </a:solidFill>
                <a:latin typeface="Calibri"/>
              </a:rPr>
              <a:t>Most rural Sindh students cost their household a few thousand rupees a year, with a long right 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673"/>
                </a:solidFill>
                <a:latin typeface="Calibri"/>
              </a:rPr>
              <a:t>ECO346 Assignment 1 · FA24-BEDS-026 · Section B · Source: PSLM 2019-20, weighted by hhweight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76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673"/>
                </a:solidFill>
                <a:latin typeface="Calibri"/>
              </a:rPr>
              <a:t>1 / 4</a:t>
            </a:r>
          </a:p>
        </p:txBody>
      </p:sp>
      <p:pic>
        <p:nvPicPr>
          <p:cNvPr id="6" name="distribution.svg" descr="distribution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640" y="1691640"/>
            <a:ext cx="7589520" cy="4638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58200" y="1691640"/>
            <a:ext cx="3200400" cy="4636008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82880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2430"/>
                </a:solidFill>
                <a:latin typeface="Calibri"/>
              </a:rPr>
              <a:t>Variant 2: Sindh rural</a:t>
            </a:r>
          </a:p>
          <a:p>
            <a:pPr algn="l"/>
            <a:r>
              <a:rPr sz="1100" b="0">
                <a:solidFill>
                  <a:srgbClr val="5B6673"/>
                </a:solidFill>
                <a:latin typeface="Calibri"/>
              </a:rPr>
              <a:t>26 = 3 × 8 + 2 · prov_code 3, urban_rural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69748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B2430"/>
                </a:solidFill>
                <a:latin typeface="Calibri"/>
              </a:rPr>
              <a:t>Rs 4,500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2004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673"/>
                </a:solidFill>
                <a:latin typeface="Calibri"/>
              </a:rPr>
              <a:t>weighted median (unweighted: Rs 4,295)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65760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B2430"/>
                </a:solidFill>
                <a:latin typeface="Calibri"/>
              </a:rPr>
              <a:t>Rs 1,000–15,500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41605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673"/>
                </a:solidFill>
                <a:latin typeface="Calibri"/>
              </a:rPr>
              <a:t>10th to 90th percentile: a 15.50-fold spread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61772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B2430"/>
                </a:solidFill>
                <a:latin typeface="Calibri"/>
              </a:rPr>
              <a:t>1,440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51206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673"/>
                </a:solidFill>
                <a:latin typeface="Calibri"/>
              </a:rPr>
              <a:t>students; 1 outside Rs 100 to 1,000,000 excluded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5577840"/>
            <a:ext cx="274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673"/>
                </a:solidFill>
                <a:latin typeface="Calibri"/>
              </a:rPr>
              <a:t>Weighting lifts the median about 5%: low-weight households are over-represented in the sample.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673"/>
                </a:solidFill>
                <a:latin typeface="Calibri"/>
              </a:rPr>
              <a:t>THE MAKEOVER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B2430"/>
                </a:solidFill>
                <a:latin typeface="Calibri"/>
              </a:rPr>
              <a:t>From 7,171 overplotted zeros and ones to two lines you can compare by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673"/>
                </a:solidFill>
                <a:latin typeface="Calibri"/>
              </a:rPr>
              <a:t>ECO346 Assignment 1 · FA24-BEDS-026 · Section B · Source: PSLM 2019-20, weighted by hhweight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76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673"/>
                </a:solidFill>
                <a:latin typeface="Calibri"/>
              </a:rPr>
              <a:t>2 /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5B6673"/>
                </a:solidFill>
                <a:latin typeface="Calibri"/>
              </a:rPr>
              <a:t>Default: ggplot(data, aes(age, literate)) + geom_point()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6459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2430"/>
                </a:solidFill>
                <a:latin typeface="Calibri"/>
              </a:rPr>
              <a:t>Redesign: weighted literacy rate by age band and sex</a:t>
            </a:r>
          </a:p>
        </p:txBody>
      </p:sp>
      <p:pic>
        <p:nvPicPr>
          <p:cNvPr id="8" name="default.svg" descr="default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640" y="2011680"/>
            <a:ext cx="5394960" cy="3468189"/>
          </a:xfrm>
          <a:prstGeom prst="rect">
            <a:avLst/>
          </a:prstGeom>
        </p:spPr>
      </p:pic>
      <p:pic>
        <p:nvPicPr>
          <p:cNvPr id="9" name="literacy_by_age.svg" descr="literacy_by_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3640" y="2011680"/>
            <a:ext cx="5394960" cy="32969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5486400"/>
            <a:ext cx="3566160" cy="82296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550408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2430"/>
                </a:solidFill>
                <a:latin typeface="Calibri"/>
              </a:rPr>
              <a:t>1  Conditional means</a:t>
            </a:r>
          </a:p>
          <a:p>
            <a:pPr algn="l"/>
            <a:r>
              <a:rPr sz="1050" b="0">
                <a:solidFill>
                  <a:srgbClr val="5B6673"/>
                </a:solidFill>
                <a:latin typeface="Calibri"/>
              </a:rPr>
              <a:t>Binary outcome becomes a proportion: the weighted mean of literate in each five-year band.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5486400"/>
            <a:ext cx="3566160" cy="82296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5550408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2430"/>
                </a:solidFill>
                <a:latin typeface="Calibri"/>
              </a:rPr>
              <a:t>2  Perceptual ranking</a:t>
            </a:r>
          </a:p>
          <a:p>
            <a:pPr algn="l"/>
            <a:r>
              <a:rPr sz="1050" b="0">
                <a:solidFill>
                  <a:srgbClr val="5B6673"/>
                </a:solidFill>
                <a:latin typeface="Calibri"/>
              </a:rPr>
              <a:t>One common 0-100% axis, judged by position. Lines labelled at their ends, no legend.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5486400"/>
            <a:ext cx="3566160" cy="82296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5550408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2430"/>
                </a:solidFill>
                <a:latin typeface="Calibri"/>
              </a:rPr>
              <a:t>3  Data-ink and honesty</a:t>
            </a:r>
          </a:p>
          <a:p>
            <a:pPr algn="l"/>
            <a:r>
              <a:rPr sz="1050" b="0">
                <a:solidFill>
                  <a:srgbClr val="5B6673"/>
                </a:solidFill>
                <a:latin typeface="Calibri"/>
              </a:rPr>
              <a:t>Grey panel removed, finding as title, source and weights in the caption, hollow markers for thin cells.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673"/>
                </a:solidFill>
                <a:latin typeface="Calibri"/>
              </a:rPr>
              <a:t>THE FINDING I CONSIDER MOST IMPORTANT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B2430"/>
                </a:solidFill>
                <a:latin typeface="Calibri"/>
              </a:rPr>
              <a:t>At 15-19, 28.0% of rural Sindh women are literate against 59.5% of men, and the gap is widest at 30-34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673"/>
                </a:solidFill>
                <a:latin typeface="Calibri"/>
              </a:rPr>
              <a:t>ECO346 Assignment 1 · FA24-BEDS-026 · Section B · Source: PSLM 2019-20, weighted by hhweight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76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673"/>
                </a:solidFill>
                <a:latin typeface="Calibri"/>
              </a:rPr>
              <a:t>3 / 4</a:t>
            </a:r>
          </a:p>
        </p:txBody>
      </p:sp>
      <p:pic>
        <p:nvPicPr>
          <p:cNvPr id="6" name="literacy_by_age.svg" descr="literacy_by_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640" y="1691640"/>
            <a:ext cx="7589520" cy="4638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58200" y="1691640"/>
            <a:ext cx="3200400" cy="4636008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828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673"/>
                </a:solidFill>
                <a:latin typeface="Calibri"/>
              </a:rPr>
              <a:t>AGED 15-19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1031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D1495B"/>
                </a:solidFill>
                <a:latin typeface="Calibri"/>
              </a:rPr>
              <a:t>28.0%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04120" y="21031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6F8B"/>
                </a:solidFill>
                <a:latin typeface="Calibri"/>
              </a:rPr>
              <a:t>59.5%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606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673"/>
                </a:solidFill>
                <a:latin typeface="Calibri"/>
              </a:rPr>
              <a:t>women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04120" y="2606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673"/>
                </a:solidFill>
                <a:latin typeface="Calibri"/>
              </a:rPr>
              <a:t>men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1089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673"/>
                </a:solidFill>
                <a:latin typeface="Calibri"/>
              </a:rPr>
              <a:t>AGED 55-59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38328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D1495B"/>
                </a:solidFill>
                <a:latin typeface="Calibri"/>
              </a:rPr>
              <a:t>9.6%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04120" y="338328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6F8B"/>
                </a:solidFill>
                <a:latin typeface="Calibri"/>
              </a:rPr>
              <a:t>40.0%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114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673"/>
                </a:solidFill>
                <a:latin typeface="Calibri"/>
              </a:rPr>
              <a:t>LARGEST GAP, AGES 30-34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3891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B2430"/>
                </a:solidFill>
                <a:latin typeface="Calibri"/>
              </a:rPr>
              <a:t>42.5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507492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673"/>
                </a:solidFill>
                <a:latin typeface="Calibri"/>
              </a:rPr>
              <a:t>Women trail men in every band, by at least 22 points. One cross-section: older bands are older birth cohorts, so the slope mixes ageing with generational change. It shows the outcome, not the cause.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673"/>
                </a:solidFill>
                <a:latin typeface="Calibri"/>
              </a:rPr>
              <a:t>A SECOND LANGUAGE: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B2430"/>
                </a:solidFill>
                <a:latin typeface="Calibri"/>
              </a:rPr>
              <a:t>Python reproduces the R band table to one decimal 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673"/>
                </a:solidFill>
                <a:latin typeface="Calibri"/>
              </a:rPr>
              <a:t>ECO346 Assignment 1 · FA24-BEDS-026 · Section B · Source: PSLM 2019-20, weighted by hhweight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76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673"/>
                </a:solidFill>
                <a:latin typeface="Calibri"/>
              </a:rPr>
              <a:t>4 / 4</a:t>
            </a:r>
          </a:p>
        </p:txBody>
      </p:sp>
      <p:pic>
        <p:nvPicPr>
          <p:cNvPr id="6" name="literacy_by_age_python.svg" descr="literacy_by_age_python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640" y="1691640"/>
            <a:ext cx="7589520" cy="4638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58200" y="1691640"/>
            <a:ext cx="3200400" cy="4636008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828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673"/>
                </a:solidFill>
                <a:latin typeface="Calibri"/>
              </a:rPr>
              <a:t>WOMEN AGED 15-19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1031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B2430"/>
                </a:solidFill>
                <a:latin typeface="Calibri"/>
              </a:rPr>
              <a:t>28.0%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04120" y="21031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B2430"/>
                </a:solidFill>
                <a:latin typeface="Calibri"/>
              </a:rPr>
              <a:t>28.0%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606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673"/>
                </a:solidFill>
                <a:latin typeface="Calibri"/>
              </a:rPr>
              <a:t>from 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04120" y="2606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673"/>
                </a:solidFill>
                <a:latin typeface="Calibri"/>
              </a:rPr>
              <a:t>from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200400"/>
            <a:ext cx="2743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B2430"/>
                </a:solidFill>
                <a:latin typeface="Calibri"/>
              </a:rPr>
              <a:t>A default that differed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673"/>
                </a:solidFill>
                <a:latin typeface="Calibri"/>
              </a:rPr>
              <a:t>ggplot2 pads each axis by 5%, matplotlib does not, so the Python panel looked tighter. I set ylim(-5, 105) and matched limits, ticks and labels.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673"/>
                </a:solidFill>
                <a:latin typeface="Calibri"/>
              </a:rPr>
              <a:t>Bands are built by integer division in both languages, because pd.cut closes intervals on the right by default.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